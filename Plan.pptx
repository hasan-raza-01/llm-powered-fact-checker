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82F4-704F-584A-95EB-94F1FB2D7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83596-DC30-86BF-1858-62BDBC263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A8DE8-D75A-546B-96F1-CBF63D14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824D1-6E4B-B305-9349-FD8522BA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2F72-5BFA-BDD9-51DE-BABB1BD1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15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FE84-09A6-EB38-CF5E-329D2047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85860-82FF-F8CB-BEC4-251237152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C4ADE-8AF4-1138-F785-B01B7A15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BFC0D-C321-318C-1DD0-8FEEF572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B72EE-DC70-DCD6-D446-EAA28BF9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05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CD8AD-63B6-6FB2-83C1-245E3EFA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77F80-4EBA-B7DF-E969-4552E162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4B41A-D8A3-94D3-33FD-62ACD948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1D235-23D1-FD07-5CE6-2E7AA3D6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510A-B17A-6591-5D1A-5EE0467F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23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23B7-23D8-EE66-EBC5-1D90F20D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14EEE-6E88-6586-8B53-3967B3E7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31D46-49B9-87CB-E2E7-25671129D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54A6D-FFDB-E8E5-F9DA-8734F60A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E1B6E-EB54-2D55-6290-5DADE883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9C025-E9F7-5C8B-097B-85D54CA0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9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FB79-9749-D3C2-15E0-B624AE02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D69C1-CF47-A877-F90C-D908155D1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C03FE-C66E-61E3-DE23-1A871641B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F16A6-35A1-D509-4FA5-D7EBE3D93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069DF-0F65-7505-804A-AABEE60CA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12AC5-78A7-4667-4FA9-5080E2F7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21552-9E1B-EE20-BD56-AC3E57C5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9683F5-6F0A-F290-C385-15E7F56F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64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9ED1-5B34-505E-2446-8CEF9DB8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B7B93-B3C3-8290-5CCD-33AD24FE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5F74-99F2-33FF-835A-C9A81582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3B3E4-8168-4361-CAC9-1CA2ADBD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9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74B76-95FF-63CB-6422-D3CC8E6E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7D7D7-3550-31DD-4798-C5A38F11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DDB63-54FD-B150-3B6B-BC820125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9A5AE-869F-5473-D782-5782F346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B86DB-E7C9-3BD7-2E79-8F20506AA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2A7DD-4A38-379E-EC2D-E1D8C550F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F39E8-3BB6-04BE-B1FE-592DF1D3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BD96B-6CE2-8D18-5B7B-E9259CDA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2B5D4-2E42-871D-371B-0C394E58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338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DFFF-36B8-F9D6-3633-D5908C3D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A6208-550C-CEFD-E382-E638555ED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C84CC-39CA-19CB-7112-E24064780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87BA5-A046-CB85-090B-5330109F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83BFB-48C1-CC10-C700-98659C09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56DB2-E74B-DC29-38A0-B24DDD65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78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8295-4E0D-16BE-046B-684AE24E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46BE7-A053-3F60-48D9-E08335197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0B125-5AB6-7288-BDA7-9BB56E2A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48D0E-C584-05BB-73AF-11AC0988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20BF-A700-5E7D-6E20-2360E818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707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B24CE5-967C-D2F2-FEA5-99A8D0152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E55C6-2381-CBA0-8C00-222D575DC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9EBB8-AC17-7B0F-EED6-8C393CD7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6896A-46D6-B299-2C1E-4F94458B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475DF-D52D-BE77-757C-54386A7C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36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80D0E-8885-2A8F-F712-D42A4E89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A082D-15DD-1860-817E-489CEEA79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7A42C-D22E-ED65-B46D-78BFB6EB1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1A342-FD2D-4023-AC1A-5240E47012B5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16956-8704-C0B2-316F-477F02B1E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2274E-2E44-332B-1190-E90EAEE10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00203-AA78-4345-A7B5-493268B8A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0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ib.gov.in/ViewRss.asp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24CD57-DC20-72DB-6A5F-B28D45019EA7}"/>
              </a:ext>
            </a:extLst>
          </p:cNvPr>
          <p:cNvSpPr/>
          <p:nvPr/>
        </p:nvSpPr>
        <p:spPr>
          <a:xfrm>
            <a:off x="1140540" y="550606"/>
            <a:ext cx="2349910" cy="1101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Streamlit</a:t>
            </a:r>
            <a:r>
              <a:rPr lang="en-US" dirty="0"/>
              <a:t> Frontend (Input)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62EF90-B998-52DD-38AA-56C813F0D0CE}"/>
              </a:ext>
            </a:extLst>
          </p:cNvPr>
          <p:cNvCxnSpPr/>
          <p:nvPr/>
        </p:nvCxnSpPr>
        <p:spPr>
          <a:xfrm>
            <a:off x="3677263" y="1052051"/>
            <a:ext cx="9537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1D7F14F-3317-0C71-72D2-C4B907EE98DE}"/>
              </a:ext>
            </a:extLst>
          </p:cNvPr>
          <p:cNvSpPr/>
          <p:nvPr/>
        </p:nvSpPr>
        <p:spPr>
          <a:xfrm>
            <a:off x="4719482" y="619432"/>
            <a:ext cx="2231923" cy="934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FastApi</a:t>
            </a:r>
            <a:r>
              <a:rPr lang="en-US" dirty="0"/>
              <a:t> Backend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EC0A8E-E720-F771-D97C-70196424420B}"/>
              </a:ext>
            </a:extLst>
          </p:cNvPr>
          <p:cNvCxnSpPr/>
          <p:nvPr/>
        </p:nvCxnSpPr>
        <p:spPr>
          <a:xfrm>
            <a:off x="7074310" y="1052051"/>
            <a:ext cx="9537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B011483-B360-CE5C-EC71-AC72D534154D}"/>
              </a:ext>
            </a:extLst>
          </p:cNvPr>
          <p:cNvSpPr/>
          <p:nvPr/>
        </p:nvSpPr>
        <p:spPr>
          <a:xfrm>
            <a:off x="8180437" y="599767"/>
            <a:ext cx="2231923" cy="934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806FBC-455F-D34D-7712-867A56CF6D42}"/>
              </a:ext>
            </a:extLst>
          </p:cNvPr>
          <p:cNvCxnSpPr/>
          <p:nvPr/>
        </p:nvCxnSpPr>
        <p:spPr>
          <a:xfrm>
            <a:off x="9296398" y="1759974"/>
            <a:ext cx="0" cy="796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E4070-C966-C7DE-8307-7CA17DAFB063}"/>
              </a:ext>
            </a:extLst>
          </p:cNvPr>
          <p:cNvSpPr/>
          <p:nvPr/>
        </p:nvSpPr>
        <p:spPr>
          <a:xfrm>
            <a:off x="8180437" y="2743214"/>
            <a:ext cx="2231923" cy="934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Retrieval of Top 3 most </a:t>
            </a:r>
            <a:r>
              <a:rPr lang="en-US" dirty="0" err="1"/>
              <a:t>relevent</a:t>
            </a:r>
            <a:r>
              <a:rPr lang="en-US" dirty="0"/>
              <a:t> information 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697247-5978-414B-1463-ED76BC1749EE}"/>
              </a:ext>
            </a:extLst>
          </p:cNvPr>
          <p:cNvCxnSpPr>
            <a:cxnSpLocks/>
          </p:cNvCxnSpPr>
          <p:nvPr/>
        </p:nvCxnSpPr>
        <p:spPr>
          <a:xfrm flipH="1">
            <a:off x="6941571" y="3210239"/>
            <a:ext cx="1145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D667BB4-08C2-4B1B-3694-21D12C99A5AE}"/>
              </a:ext>
            </a:extLst>
          </p:cNvPr>
          <p:cNvSpPr/>
          <p:nvPr/>
        </p:nvSpPr>
        <p:spPr>
          <a:xfrm>
            <a:off x="4650656" y="2044337"/>
            <a:ext cx="2231923" cy="23318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Prompt</a:t>
            </a:r>
          </a:p>
          <a:p>
            <a:pPr algn="ctr"/>
            <a:r>
              <a:rPr lang="en-US" dirty="0"/>
              <a:t>-----------</a:t>
            </a:r>
          </a:p>
          <a:p>
            <a:pPr algn="ctr"/>
            <a:r>
              <a:rPr lang="en-US" dirty="0"/>
              <a:t>{ Querry/Claims </a:t>
            </a:r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RAG Retrieved information </a:t>
            </a:r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Instructions 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4F3A88-D09D-F022-7D9F-5E6D9CF4FFE1}"/>
              </a:ext>
            </a:extLst>
          </p:cNvPr>
          <p:cNvCxnSpPr>
            <a:cxnSpLocks/>
          </p:cNvCxnSpPr>
          <p:nvPr/>
        </p:nvCxnSpPr>
        <p:spPr>
          <a:xfrm flipH="1">
            <a:off x="3426539" y="3180749"/>
            <a:ext cx="1145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3F94E-22F4-9A85-9B8E-413A7E140CD2}"/>
              </a:ext>
            </a:extLst>
          </p:cNvPr>
          <p:cNvSpPr/>
          <p:nvPr/>
        </p:nvSpPr>
        <p:spPr>
          <a:xfrm>
            <a:off x="1015178" y="2723550"/>
            <a:ext cx="2349910" cy="1101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 Call/Output</a:t>
            </a:r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0706E2-2565-43A4-2FF4-76DD515912C4}"/>
              </a:ext>
            </a:extLst>
          </p:cNvPr>
          <p:cNvCxnSpPr/>
          <p:nvPr/>
        </p:nvCxnSpPr>
        <p:spPr>
          <a:xfrm>
            <a:off x="2190133" y="3913239"/>
            <a:ext cx="0" cy="6587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980E5C-16E5-C2BA-B28B-C0ACC65A132D}"/>
              </a:ext>
            </a:extLst>
          </p:cNvPr>
          <p:cNvCxnSpPr>
            <a:cxnSpLocks/>
          </p:cNvCxnSpPr>
          <p:nvPr/>
        </p:nvCxnSpPr>
        <p:spPr>
          <a:xfrm flipH="1">
            <a:off x="2190133" y="4572000"/>
            <a:ext cx="37485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C01B11-DA8D-D4C5-E42D-31504E3DF488}"/>
              </a:ext>
            </a:extLst>
          </p:cNvPr>
          <p:cNvCxnSpPr>
            <a:cxnSpLocks/>
          </p:cNvCxnSpPr>
          <p:nvPr/>
        </p:nvCxnSpPr>
        <p:spPr>
          <a:xfrm>
            <a:off x="5938682" y="4562168"/>
            <a:ext cx="0" cy="334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D4FF453-4D54-781F-37E1-2414477FE5AF}"/>
              </a:ext>
            </a:extLst>
          </p:cNvPr>
          <p:cNvSpPr/>
          <p:nvPr/>
        </p:nvSpPr>
        <p:spPr>
          <a:xfrm>
            <a:off x="4066870" y="4970222"/>
            <a:ext cx="3748549" cy="17009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Json</a:t>
            </a:r>
          </a:p>
          <a:p>
            <a:pPr algn="ctr"/>
            <a:r>
              <a:rPr lang="en-US" dirty="0"/>
              <a:t>------</a:t>
            </a:r>
          </a:p>
          <a:p>
            <a:pPr algn="ctr"/>
            <a:r>
              <a:rPr lang="en-US" dirty="0"/>
              <a:t>{</a:t>
            </a:r>
            <a:r>
              <a:rPr lang="en-IN" dirty="0"/>
              <a:t>Verdict: “True/False/Unverifiable”,</a:t>
            </a:r>
          </a:p>
          <a:p>
            <a:pPr algn="ctr"/>
            <a:r>
              <a:rPr lang="en-IN" dirty="0"/>
              <a:t>Evidence: “Retrieved information”,</a:t>
            </a:r>
          </a:p>
          <a:p>
            <a:pPr algn="ctr"/>
            <a:r>
              <a:rPr lang="en-IN" dirty="0"/>
              <a:t>Reasoning: “Model reasonings”</a:t>
            </a:r>
            <a:r>
              <a:rPr lang="en-US" dirty="0"/>
              <a:t>}	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A4C356-1CBC-2F0A-1C2C-157A45B33A01}"/>
              </a:ext>
            </a:extLst>
          </p:cNvPr>
          <p:cNvSpPr txBox="1"/>
          <p:nvPr/>
        </p:nvSpPr>
        <p:spPr>
          <a:xfrm>
            <a:off x="4488676" y="95553"/>
            <a:ext cx="2106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Input/</a:t>
            </a:r>
            <a:r>
              <a:rPr lang="en-US" b="1" u="sng" dirty="0">
                <a:sym typeface="Wingdings" panose="05000000000000000000" pitchFamily="2" charset="2"/>
              </a:rPr>
              <a:t>Output Flow</a:t>
            </a:r>
            <a:endParaRPr lang="en-IN" b="1" u="sng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8C84B7C-A54A-E1DE-41FD-4A7CEAA380FD}"/>
              </a:ext>
            </a:extLst>
          </p:cNvPr>
          <p:cNvCxnSpPr/>
          <p:nvPr/>
        </p:nvCxnSpPr>
        <p:spPr>
          <a:xfrm>
            <a:off x="7870721" y="5894439"/>
            <a:ext cx="9537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B064B35-7F78-A22E-DE17-A964FB83FA8F}"/>
              </a:ext>
            </a:extLst>
          </p:cNvPr>
          <p:cNvSpPr/>
          <p:nvPr/>
        </p:nvSpPr>
        <p:spPr>
          <a:xfrm>
            <a:off x="8869924" y="5427413"/>
            <a:ext cx="2231923" cy="934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5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0C8336-301B-EF26-72EB-434665B4B8E3}"/>
              </a:ext>
            </a:extLst>
          </p:cNvPr>
          <p:cNvSpPr txBox="1"/>
          <p:nvPr/>
        </p:nvSpPr>
        <p:spPr>
          <a:xfrm>
            <a:off x="4552442" y="291593"/>
            <a:ext cx="276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Application Startup Flow</a:t>
            </a:r>
            <a:endParaRPr lang="en-IN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56BE9-F7D2-3037-1F50-A41F6F3915AE}"/>
              </a:ext>
            </a:extLst>
          </p:cNvPr>
          <p:cNvSpPr/>
          <p:nvPr/>
        </p:nvSpPr>
        <p:spPr>
          <a:xfrm>
            <a:off x="5476613" y="1138707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847BCA-0196-3AE1-D6F1-31A99335EB06}"/>
              </a:ext>
            </a:extLst>
          </p:cNvPr>
          <p:cNvCxnSpPr/>
          <p:nvPr/>
        </p:nvCxnSpPr>
        <p:spPr>
          <a:xfrm>
            <a:off x="5933812" y="2148348"/>
            <a:ext cx="0" cy="35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C978747-C6C6-6C1C-BE61-D49371CF34D1}"/>
              </a:ext>
            </a:extLst>
          </p:cNvPr>
          <p:cNvSpPr/>
          <p:nvPr/>
        </p:nvSpPr>
        <p:spPr>
          <a:xfrm>
            <a:off x="5176751" y="2569301"/>
            <a:ext cx="1514121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Ingestion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BDAE98-9C12-9FFD-92BC-46B9142D1116}"/>
              </a:ext>
            </a:extLst>
          </p:cNvPr>
          <p:cNvCxnSpPr/>
          <p:nvPr/>
        </p:nvCxnSpPr>
        <p:spPr>
          <a:xfrm>
            <a:off x="5933811" y="3635478"/>
            <a:ext cx="0" cy="35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CD5DDF3-F77A-1EC1-5BAF-A573E31C3D62}"/>
              </a:ext>
            </a:extLst>
          </p:cNvPr>
          <p:cNvSpPr/>
          <p:nvPr/>
        </p:nvSpPr>
        <p:spPr>
          <a:xfrm>
            <a:off x="5176752" y="5719293"/>
            <a:ext cx="1514121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Server Up</a:t>
            </a:r>
            <a:endParaRPr lang="en-I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B6B8320-D81E-E8AB-2277-F9FE671C694C}"/>
              </a:ext>
            </a:extLst>
          </p:cNvPr>
          <p:cNvCxnSpPr/>
          <p:nvPr/>
        </p:nvCxnSpPr>
        <p:spPr>
          <a:xfrm>
            <a:off x="5933811" y="5267009"/>
            <a:ext cx="0" cy="35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4B8AA08-0136-066A-11E4-AB0AC217C845}"/>
              </a:ext>
            </a:extLst>
          </p:cNvPr>
          <p:cNvSpPr/>
          <p:nvPr/>
        </p:nvSpPr>
        <p:spPr>
          <a:xfrm>
            <a:off x="4785952" y="4016478"/>
            <a:ext cx="2295718" cy="11687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Checkup</a:t>
            </a:r>
          </a:p>
          <a:p>
            <a:pPr algn="ctr"/>
            <a:r>
              <a:rPr lang="en-US" dirty="0"/>
              <a:t>-------------</a:t>
            </a:r>
          </a:p>
          <a:p>
            <a:pPr algn="ctr"/>
            <a:r>
              <a:rPr lang="en-US" dirty="0"/>
              <a:t>LLM Call,</a:t>
            </a:r>
          </a:p>
          <a:p>
            <a:pPr algn="ctr"/>
            <a:r>
              <a:rPr lang="en-US" dirty="0"/>
              <a:t>VectorDB Retrieval</a:t>
            </a:r>
          </a:p>
        </p:txBody>
      </p:sp>
    </p:spTree>
    <p:extLst>
      <p:ext uri="{BB962C8B-B14F-4D97-AF65-F5344CB8AC3E}">
        <p14:creationId xmlns:p14="http://schemas.microsoft.com/office/powerpoint/2010/main" val="132612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6CD5A7-8091-A6F4-729C-03EF8BD9B8B4}"/>
              </a:ext>
            </a:extLst>
          </p:cNvPr>
          <p:cNvSpPr txBox="1"/>
          <p:nvPr/>
        </p:nvSpPr>
        <p:spPr>
          <a:xfrm>
            <a:off x="652982" y="348423"/>
            <a:ext cx="3153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Application Pipelines</a:t>
            </a:r>
            <a:endParaRPr lang="en-IN" sz="2400" b="1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EC4DAF-85E6-9B48-ED2E-7DD6B8CFFD6D}"/>
              </a:ext>
            </a:extLst>
          </p:cNvPr>
          <p:cNvSpPr/>
          <p:nvPr/>
        </p:nvSpPr>
        <p:spPr>
          <a:xfrm>
            <a:off x="1553704" y="1016524"/>
            <a:ext cx="296923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Ingestion Pipeline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2051E6-9C95-83F1-5F64-98E9E6977230}"/>
              </a:ext>
            </a:extLst>
          </p:cNvPr>
          <p:cNvCxnSpPr>
            <a:cxnSpLocks/>
          </p:cNvCxnSpPr>
          <p:nvPr/>
        </p:nvCxnSpPr>
        <p:spPr>
          <a:xfrm>
            <a:off x="753337" y="875071"/>
            <a:ext cx="0" cy="49456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A2EB119-5856-CDEC-759D-693FCBB748E5}"/>
              </a:ext>
            </a:extLst>
          </p:cNvPr>
          <p:cNvSpPr/>
          <p:nvPr/>
        </p:nvSpPr>
        <p:spPr>
          <a:xfrm>
            <a:off x="1553704" y="2127568"/>
            <a:ext cx="296923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Pipeline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CDF2BD-CDA2-E444-53F7-F99EAF0CD96E}"/>
              </a:ext>
            </a:extLst>
          </p:cNvPr>
          <p:cNvCxnSpPr>
            <a:cxnSpLocks/>
          </p:cNvCxnSpPr>
          <p:nvPr/>
        </p:nvCxnSpPr>
        <p:spPr>
          <a:xfrm>
            <a:off x="753337" y="1473724"/>
            <a:ext cx="717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54F024-1803-E311-A5D6-59A99448D26D}"/>
              </a:ext>
            </a:extLst>
          </p:cNvPr>
          <p:cNvCxnSpPr>
            <a:cxnSpLocks/>
          </p:cNvCxnSpPr>
          <p:nvPr/>
        </p:nvCxnSpPr>
        <p:spPr>
          <a:xfrm>
            <a:off x="753337" y="2584768"/>
            <a:ext cx="717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39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046021-999C-E29D-369C-58C8CD5B7E20}"/>
              </a:ext>
            </a:extLst>
          </p:cNvPr>
          <p:cNvSpPr txBox="1"/>
          <p:nvPr/>
        </p:nvSpPr>
        <p:spPr>
          <a:xfrm>
            <a:off x="462115" y="899649"/>
            <a:ext cx="3460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Data Ingestion Pipeline</a:t>
            </a:r>
            <a:endParaRPr lang="en-IN" sz="24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8E3AE-1452-1DCD-E90D-219ABE6B4CCA}"/>
              </a:ext>
            </a:extLst>
          </p:cNvPr>
          <p:cNvSpPr txBox="1"/>
          <p:nvPr/>
        </p:nvSpPr>
        <p:spPr>
          <a:xfrm>
            <a:off x="776748" y="1563326"/>
            <a:ext cx="10422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Small database (CSV/text)</a:t>
            </a:r>
            <a:r>
              <a:rPr lang="en-US" dirty="0"/>
              <a:t> containing 30–50 short(verified statements or government press releases).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raw data into embeddings using an embedding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the embedded facts in a vector database.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0F32F-BD7C-F0C1-E8D7-2716D2C9BE9C}"/>
              </a:ext>
            </a:extLst>
          </p:cNvPr>
          <p:cNvSpPr txBox="1"/>
          <p:nvPr/>
        </p:nvSpPr>
        <p:spPr>
          <a:xfrm>
            <a:off x="462115" y="3455587"/>
            <a:ext cx="237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Output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0FD20-B9A9-174F-FB3F-303732DA3D05}"/>
              </a:ext>
            </a:extLst>
          </p:cNvPr>
          <p:cNvSpPr txBox="1"/>
          <p:nvPr/>
        </p:nvSpPr>
        <p:spPr>
          <a:xfrm>
            <a:off x="776748" y="4128390"/>
            <a:ext cx="66314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Retrieve the top-k most similar facts based on Querry/Claims.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Prompt(Querry/Claims + Retrievals + Instructions).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Call with structured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 Output</a:t>
            </a:r>
          </a:p>
        </p:txBody>
      </p:sp>
    </p:spTree>
    <p:extLst>
      <p:ext uri="{BB962C8B-B14F-4D97-AF65-F5344CB8AC3E}">
        <p14:creationId xmlns:p14="http://schemas.microsoft.com/office/powerpoint/2010/main" val="391808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D6061E-73E9-023B-DE4A-630075C60221}"/>
              </a:ext>
            </a:extLst>
          </p:cNvPr>
          <p:cNvSpPr txBox="1"/>
          <p:nvPr/>
        </p:nvSpPr>
        <p:spPr>
          <a:xfrm>
            <a:off x="602993" y="176982"/>
            <a:ext cx="2431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Tech Preference</a:t>
            </a:r>
            <a:endParaRPr lang="en-IN" sz="2400" b="1" u="sng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F4B0FC-069B-821F-384D-865513B4C9C6}"/>
              </a:ext>
            </a:extLst>
          </p:cNvPr>
          <p:cNvCxnSpPr>
            <a:cxnSpLocks/>
          </p:cNvCxnSpPr>
          <p:nvPr/>
        </p:nvCxnSpPr>
        <p:spPr>
          <a:xfrm>
            <a:off x="727587" y="757084"/>
            <a:ext cx="0" cy="60173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5884F8-AB0A-F2E6-7C14-26D427C1D48F}"/>
              </a:ext>
            </a:extLst>
          </p:cNvPr>
          <p:cNvCxnSpPr>
            <a:cxnSpLocks/>
          </p:cNvCxnSpPr>
          <p:nvPr/>
        </p:nvCxnSpPr>
        <p:spPr>
          <a:xfrm>
            <a:off x="737422" y="1582997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8BB8AED-00EB-7EA2-3159-4E9956655FDD}"/>
              </a:ext>
            </a:extLst>
          </p:cNvPr>
          <p:cNvSpPr/>
          <p:nvPr/>
        </p:nvSpPr>
        <p:spPr>
          <a:xfrm>
            <a:off x="1809135" y="1125797"/>
            <a:ext cx="197628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Claim/Entity Detection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448784-A6E9-58BC-8E73-0705B86FEFCA}"/>
              </a:ext>
            </a:extLst>
          </p:cNvPr>
          <p:cNvCxnSpPr>
            <a:cxnSpLocks/>
          </p:cNvCxnSpPr>
          <p:nvPr/>
        </p:nvCxnSpPr>
        <p:spPr>
          <a:xfrm>
            <a:off x="3927987" y="1582997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AE7947C-0DD3-2093-CDD4-2DA612038DC1}"/>
              </a:ext>
            </a:extLst>
          </p:cNvPr>
          <p:cNvSpPr/>
          <p:nvPr/>
        </p:nvSpPr>
        <p:spPr>
          <a:xfrm>
            <a:off x="4935796" y="638648"/>
            <a:ext cx="6774421" cy="14310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ba-claim/bert (</a:t>
            </a:r>
            <a:r>
              <a:rPr lang="en-US" dirty="0"/>
              <a:t>filter before using an extractor) 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pref google/gemma-7b-aps-it </a:t>
            </a:r>
            <a:r>
              <a:rPr lang="en-IN" dirty="0"/>
              <a:t>( for claims extraction)</a:t>
            </a:r>
          </a:p>
          <a:p>
            <a:pPr algn="ctr"/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pref Babelscape/t5-base-summarization-claim-extractor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812DD0-D577-A33E-E419-14B99BB6D8A6}"/>
              </a:ext>
            </a:extLst>
          </p:cNvPr>
          <p:cNvCxnSpPr>
            <a:cxnSpLocks/>
          </p:cNvCxnSpPr>
          <p:nvPr/>
        </p:nvCxnSpPr>
        <p:spPr>
          <a:xfrm>
            <a:off x="727587" y="2600636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C51B4EE-BF65-7D3C-DA6D-C89A45FD6250}"/>
              </a:ext>
            </a:extLst>
          </p:cNvPr>
          <p:cNvSpPr/>
          <p:nvPr/>
        </p:nvSpPr>
        <p:spPr>
          <a:xfrm>
            <a:off x="1809134" y="2133604"/>
            <a:ext cx="197628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Trusted Fact Base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318D19-5ACE-2255-7051-FE2CF62E42CA}"/>
              </a:ext>
            </a:extLst>
          </p:cNvPr>
          <p:cNvCxnSpPr>
            <a:cxnSpLocks/>
          </p:cNvCxnSpPr>
          <p:nvPr/>
        </p:nvCxnSpPr>
        <p:spPr>
          <a:xfrm>
            <a:off x="3898491" y="2600634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E729CAE-6795-19D4-FCA5-CC0A619D1A98}"/>
              </a:ext>
            </a:extLst>
          </p:cNvPr>
          <p:cNvSpPr/>
          <p:nvPr/>
        </p:nvSpPr>
        <p:spPr>
          <a:xfrm>
            <a:off x="4935797" y="2153271"/>
            <a:ext cx="678423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CSV/text file</a:t>
            </a:r>
            <a:r>
              <a:rPr lang="en-US" dirty="0"/>
              <a:t> containing 30–50 short (verified statements or government press releases)</a:t>
            </a:r>
            <a:endParaRPr lang="en-IN" dirty="0"/>
          </a:p>
          <a:p>
            <a:pPr algn="ctr"/>
            <a:r>
              <a:rPr lang="en-US" dirty="0"/>
              <a:t>Example: </a:t>
            </a:r>
            <a:r>
              <a:rPr lang="en-US" u="sng" dirty="0">
                <a:hlinkClick r:id="rId2"/>
              </a:rPr>
              <a:t>https://www.pib.gov.in/ViewRss.aspx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A07DF9-6141-CA6B-DE2F-75DFD961210F}"/>
              </a:ext>
            </a:extLst>
          </p:cNvPr>
          <p:cNvCxnSpPr>
            <a:cxnSpLocks/>
          </p:cNvCxnSpPr>
          <p:nvPr/>
        </p:nvCxnSpPr>
        <p:spPr>
          <a:xfrm>
            <a:off x="737422" y="3608443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36D0144-5F66-6E26-934E-FF5A3A89366F}"/>
              </a:ext>
            </a:extLst>
          </p:cNvPr>
          <p:cNvSpPr/>
          <p:nvPr/>
        </p:nvSpPr>
        <p:spPr>
          <a:xfrm>
            <a:off x="1809134" y="3151241"/>
            <a:ext cx="197628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r>
              <a:rPr lang="en-IN" dirty="0"/>
              <a:t>mbeddings Model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D6EE87-F4D3-E3B8-24F5-AA7FF5247FBB}"/>
              </a:ext>
            </a:extLst>
          </p:cNvPr>
          <p:cNvCxnSpPr>
            <a:cxnSpLocks/>
          </p:cNvCxnSpPr>
          <p:nvPr/>
        </p:nvCxnSpPr>
        <p:spPr>
          <a:xfrm>
            <a:off x="3898491" y="3578943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5244C40-7C46-B7D2-EDC2-054F9B11D0D6}"/>
              </a:ext>
            </a:extLst>
          </p:cNvPr>
          <p:cNvSpPr/>
          <p:nvPr/>
        </p:nvSpPr>
        <p:spPr>
          <a:xfrm>
            <a:off x="4935796" y="3136492"/>
            <a:ext cx="678423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Qwen/Qwen3-Embedding-0.6B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E272E1-96CD-F1EF-920C-01E3B9939904}"/>
              </a:ext>
            </a:extLst>
          </p:cNvPr>
          <p:cNvCxnSpPr>
            <a:cxnSpLocks/>
          </p:cNvCxnSpPr>
          <p:nvPr/>
        </p:nvCxnSpPr>
        <p:spPr>
          <a:xfrm>
            <a:off x="737422" y="4606413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FB570B8-52A0-085A-C04F-F51ED2A1CE9C}"/>
              </a:ext>
            </a:extLst>
          </p:cNvPr>
          <p:cNvSpPr/>
          <p:nvPr/>
        </p:nvSpPr>
        <p:spPr>
          <a:xfrm>
            <a:off x="1809133" y="4139382"/>
            <a:ext cx="197628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vector database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7B43EE-E684-B181-0651-BD9D361E7533}"/>
              </a:ext>
            </a:extLst>
          </p:cNvPr>
          <p:cNvCxnSpPr>
            <a:cxnSpLocks/>
          </p:cNvCxnSpPr>
          <p:nvPr/>
        </p:nvCxnSpPr>
        <p:spPr>
          <a:xfrm>
            <a:off x="3898491" y="4606413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638B9CE-D695-2506-D1B5-155A2339C827}"/>
              </a:ext>
            </a:extLst>
          </p:cNvPr>
          <p:cNvSpPr/>
          <p:nvPr/>
        </p:nvSpPr>
        <p:spPr>
          <a:xfrm>
            <a:off x="4935796" y="4149213"/>
            <a:ext cx="678423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ChromaDB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A73EDC-38EC-8B51-80E1-FF963C28C09D}"/>
              </a:ext>
            </a:extLst>
          </p:cNvPr>
          <p:cNvCxnSpPr>
            <a:cxnSpLocks/>
          </p:cNvCxnSpPr>
          <p:nvPr/>
        </p:nvCxnSpPr>
        <p:spPr>
          <a:xfrm>
            <a:off x="732507" y="5614220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0994932-6F4B-B4C8-DD52-906FF1631A9B}"/>
              </a:ext>
            </a:extLst>
          </p:cNvPr>
          <p:cNvSpPr/>
          <p:nvPr/>
        </p:nvSpPr>
        <p:spPr>
          <a:xfrm>
            <a:off x="1804218" y="5147189"/>
            <a:ext cx="197628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LLM(Ollama / HuggingFace)</a:t>
            </a:r>
            <a:endParaRPr lang="en-IN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4C2A4AB-DE31-5839-B83A-565D82C8E222}"/>
              </a:ext>
            </a:extLst>
          </p:cNvPr>
          <p:cNvCxnSpPr>
            <a:cxnSpLocks/>
          </p:cNvCxnSpPr>
          <p:nvPr/>
        </p:nvCxnSpPr>
        <p:spPr>
          <a:xfrm>
            <a:off x="3893576" y="5614220"/>
            <a:ext cx="924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848CF5D-BEFB-F026-3BA6-DF5B8F6E548C}"/>
              </a:ext>
            </a:extLst>
          </p:cNvPr>
          <p:cNvSpPr/>
          <p:nvPr/>
        </p:nvSpPr>
        <p:spPr>
          <a:xfrm>
            <a:off x="4930881" y="5157020"/>
            <a:ext cx="678423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pref deepseek-ai/DeepSeek-R1-Distill-Qwen-7B</a:t>
            </a:r>
          </a:p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pref microsoft/Phi-4-mini-instruct		</a:t>
            </a:r>
          </a:p>
        </p:txBody>
      </p:sp>
    </p:spTree>
    <p:extLst>
      <p:ext uri="{BB962C8B-B14F-4D97-AF65-F5344CB8AC3E}">
        <p14:creationId xmlns:p14="http://schemas.microsoft.com/office/powerpoint/2010/main" val="56285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249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Hasan</dc:creator>
  <cp:lastModifiedBy>Md Hasan</cp:lastModifiedBy>
  <cp:revision>5</cp:revision>
  <dcterms:created xsi:type="dcterms:W3CDTF">2026-01-13T20:22:13Z</dcterms:created>
  <dcterms:modified xsi:type="dcterms:W3CDTF">2026-01-14T12:10:10Z</dcterms:modified>
</cp:coreProperties>
</file>